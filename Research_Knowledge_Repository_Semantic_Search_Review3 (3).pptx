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kl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2788920" cy="9102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98448"/>
            <a:ext cx="10744200" cy="1691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4400" b="0" i="1">
                <a:solidFill>
                  <a:srgbClr val="FDF4D4"/>
                </a:solidFill>
                <a:latin typeface="Monotype Corsiva"/>
                <a:cs typeface="Monotype Corsiva"/>
              </a:rPr>
              <a:t>RESEARCH KNOWLEDGE
REPOSITORY WITH SEMANTIC
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828032"/>
            <a:ext cx="29260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2E7C9"/>
                </a:solidFill>
                <a:latin typeface="Palatino Linotype"/>
                <a:cs typeface="Palatino Linotype"/>
              </a:rPr>
              <a:t>SUPERVISOR: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2E7C9"/>
                </a:solidFill>
                <a:latin typeface="Palatino Linotype"/>
                <a:cs typeface="Palatino Linotype"/>
              </a:rPr>
              <a:t>MRS.MELINDA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5072" y="4828032"/>
            <a:ext cx="36576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2E7C9"/>
                </a:solidFill>
                <a:latin typeface="Palatino Linotype"/>
                <a:cs typeface="Palatino Linotype"/>
              </a:rPr>
              <a:t>25CS1302E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0" i="0">
                <a:solidFill>
                  <a:srgbClr val="F2E7C9"/>
                </a:solidFill>
                <a:latin typeface="Palatino Linotype"/>
                <a:cs typeface="Palatino Linotype"/>
              </a:rPr>
              <a:t>DBE &amp; DSD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315968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DF4D4"/>
                </a:solidFill>
                <a:latin typeface="Calibri"/>
                <a:cs typeface="Calibri"/>
              </a:rPr>
              <a:t>GROUP-4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773168"/>
            <a:ext cx="329184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F2E7C9"/>
                </a:solidFill>
                <a:latin typeface="Palatino Linotype"/>
                <a:cs typeface="Palatino Linotype"/>
              </a:rPr>
              <a:t>TEAM MEMBERS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F2E7C9"/>
                </a:solidFill>
                <a:latin typeface="Palatino Linotype"/>
                <a:cs typeface="Palatino Linotype"/>
              </a:rPr>
              <a:t>2510080024- AKSHAYA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F2E7C9"/>
                </a:solidFill>
                <a:latin typeface="Palatino Linotype"/>
                <a:cs typeface="Palatino Linotype"/>
              </a:rPr>
              <a:t>2510080022- NIHARIKA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F2E7C9"/>
                </a:solidFill>
                <a:latin typeface="Palatino Linotype"/>
                <a:cs typeface="Palatino Linotype"/>
              </a:rPr>
              <a:t>2510080019- HARSHINI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F2E7C9"/>
                </a:solidFill>
                <a:latin typeface="Palatino Linotype"/>
                <a:cs typeface="Palatino Linotype"/>
              </a:rPr>
              <a:t>2510080023- VARNA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PROJECT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Three-stage review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3383280" cy="3703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00784"/>
            <a:ext cx="28346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DF4D4"/>
                </a:solidFill>
                <a:latin typeface="Palatino Linotype"/>
                <a:cs typeface="Palatino Linotype"/>
              </a:rPr>
              <a:t>REVIEW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1368" y="2048256"/>
            <a:ext cx="914400" cy="32004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139696"/>
            <a:ext cx="298094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Problem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98064"/>
            <a:ext cx="283464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Problem identification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Objectives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Proposed modules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Expected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536192"/>
            <a:ext cx="3383280" cy="3703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700784"/>
            <a:ext cx="28346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DF4D4"/>
                </a:solidFill>
                <a:latin typeface="Palatino Linotype"/>
                <a:cs typeface="Palatino Linotype"/>
              </a:rPr>
              <a:t>REVIEW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41848" y="2048256"/>
            <a:ext cx="914400" cy="32004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139696"/>
            <a:ext cx="298094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Literature Survey &amp; Research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798064"/>
            <a:ext cx="283464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Literature survey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Existing approaches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Research gap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Proposed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536192"/>
            <a:ext cx="3383280" cy="370332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1700784"/>
            <a:ext cx="283464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DF4D4"/>
                </a:solidFill>
                <a:latin typeface="Palatino Linotype"/>
                <a:cs typeface="Palatino Linotype"/>
              </a:rPr>
              <a:t>REVIEW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82328" y="2048256"/>
            <a:ext cx="914400" cy="32004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2139696"/>
            <a:ext cx="298094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Methodology Development &amp; Working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798064"/>
            <a:ext cx="283464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Methodology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Implementation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Working modules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Intermediate results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Evaluation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A9A394"/>
                </a:solidFill>
                <a:latin typeface="Calibri"/>
                <a:cs typeface="Calibri"/>
              </a:rPr>
              <a:t>Next steps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105656" y="3127248"/>
            <a:ext cx="146304" cy="384048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7946136" y="3127248"/>
            <a:ext cx="146304" cy="384048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Why semantic retrieval is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6537960" cy="4480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</a:pPr>
            <a:r>
              <a:rPr sz="13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300" b="0" i="0">
                <a:solidFill>
                  <a:srgbClr val="C9C2B0"/>
                </a:solidFill>
                <a:latin typeface="Calibri"/>
                <a:cs typeface="Calibri"/>
              </a:rPr>
              <a:t>The rapid growth of machine learning research literature makes relevant papers difficult to find.</a:t>
            </a:r>
          </a:p>
          <a:p>
            <a:pPr algn="l">
              <a:lnSpc>
                <a:spcPct val="116000"/>
              </a:lnSpc>
              <a:spcAft>
                <a:spcPts val="1300"/>
              </a:spcAft>
            </a:pPr>
            <a:r>
              <a:rPr sz="13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300" b="0" i="0">
                <a:solidFill>
                  <a:srgbClr val="C9C2B0"/>
                </a:solidFill>
                <a:latin typeface="Calibri"/>
                <a:cs typeface="Calibri"/>
              </a:rPr>
              <a:t>Traditional keyword-based search may miss papers that use different terminology for similar concepts.</a:t>
            </a:r>
          </a:p>
          <a:p>
            <a:pPr algn="l">
              <a:lnSpc>
                <a:spcPct val="116000"/>
              </a:lnSpc>
              <a:spcAft>
                <a:spcPts val="1300"/>
              </a:spcAft>
            </a:pPr>
            <a:r>
              <a:rPr sz="13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300" b="0" i="0">
                <a:solidFill>
                  <a:srgbClr val="C9C2B0"/>
                </a:solidFill>
                <a:latin typeface="Calibri"/>
                <a:cs typeface="Calibri"/>
              </a:rPr>
              <a:t>Researchers need meaning-based retrieval rather than only exact keyword matching.</a:t>
            </a:r>
          </a:p>
          <a:p>
            <a:pPr algn="l">
              <a:lnSpc>
                <a:spcPct val="116000"/>
              </a:lnSpc>
              <a:spcAft>
                <a:spcPts val="1300"/>
              </a:spcAft>
            </a:pPr>
            <a:r>
              <a:rPr sz="13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300" b="0" i="0">
                <a:solidFill>
                  <a:srgbClr val="C9C2B0"/>
                </a:solidFill>
                <a:latin typeface="Calibri"/>
                <a:cs typeface="Calibri"/>
              </a:rPr>
              <a:t>Existing systems provide limited support for identifying relationships, trends and research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572768"/>
            <a:ext cx="3977639" cy="658368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Large Research Literature</a:t>
            </a:r>
          </a:p>
        </p:txBody>
      </p:sp>
      <p:sp>
        <p:nvSpPr>
          <p:cNvPr id="9" name="Down Arrow 8"/>
          <p:cNvSpPr/>
          <p:nvPr/>
        </p:nvSpPr>
        <p:spPr>
          <a:xfrm>
            <a:off x="9550907" y="2276856"/>
            <a:ext cx="146304" cy="292607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35240" y="2615184"/>
            <a:ext cx="3977639" cy="658368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Information Overload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550907" y="3319272"/>
            <a:ext cx="146304" cy="292607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35240" y="3657600"/>
            <a:ext cx="3977639" cy="658368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Difficulty Finding Relevant Papers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550907" y="4361688"/>
            <a:ext cx="146304" cy="292607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35240" y="4700016"/>
            <a:ext cx="3977639" cy="658368"/>
          </a:xfrm>
          <a:prstGeom prst="roundRect">
            <a:avLst>
              <a:gd name="adj" fmla="val 10000"/>
            </a:avLst>
          </a:prstGeom>
          <a:solidFill>
            <a:srgbClr val="1F1614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DF4D4"/>
                </a:solidFill>
                <a:latin typeface="Calibri"/>
                <a:cs typeface="Calibri"/>
              </a:rPr>
              <a:t>Need for Semantic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Eight objectives of the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349240" cy="932688"/>
          </a:xfrm>
          <a:prstGeom prst="roundRect">
            <a:avLst>
              <a:gd name="adj" fmla="val 9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50292" cy="93268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1664208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5E1A16"/>
          </a:solidFill>
          <a:ln w="1143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500" b="1" i="0">
                <a:solidFill>
                  <a:srgbClr val="FDF4D4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591056"/>
            <a:ext cx="427939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Build an organized research literature repository.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481328"/>
            <a:ext cx="5349240" cy="932688"/>
          </a:xfrm>
          <a:prstGeom prst="roundRect">
            <a:avLst>
              <a:gd name="adj" fmla="val 9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27648" y="1481328"/>
            <a:ext cx="50292" cy="93268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47104" y="1664208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5E1A16"/>
          </a:solidFill>
          <a:ln w="1143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500" b="1" i="0">
                <a:solidFill>
                  <a:srgbClr val="FDF4D4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0336" y="1591056"/>
            <a:ext cx="427939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Implement semantic 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596896"/>
            <a:ext cx="5349240" cy="932688"/>
          </a:xfrm>
          <a:prstGeom prst="roundRect">
            <a:avLst>
              <a:gd name="adj" fmla="val 9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2596896"/>
            <a:ext cx="50292" cy="93268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7824" y="2779776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5E1A16"/>
          </a:solidFill>
          <a:ln w="1143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500" b="1" i="0">
                <a:solidFill>
                  <a:srgbClr val="FDF4D4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706624"/>
            <a:ext cx="427939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Understand the meaning and context of queries.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2596896"/>
            <a:ext cx="5349240" cy="932688"/>
          </a:xfrm>
          <a:prstGeom prst="roundRect">
            <a:avLst>
              <a:gd name="adj" fmla="val 9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27648" y="2596896"/>
            <a:ext cx="50292" cy="93268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47104" y="2779776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5E1A16"/>
          </a:solidFill>
          <a:ln w="1143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500" b="1" i="0">
                <a:solidFill>
                  <a:srgbClr val="FDF4D4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2706624"/>
            <a:ext cx="427939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Generate text embeddings for papers and queries.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12464"/>
            <a:ext cx="5349240" cy="932688"/>
          </a:xfrm>
          <a:prstGeom prst="roundRect">
            <a:avLst>
              <a:gd name="adj" fmla="val 9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3712464"/>
            <a:ext cx="50292" cy="93268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7824" y="3895344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5E1A16"/>
          </a:solidFill>
          <a:ln w="1143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500" b="1" i="0">
                <a:solidFill>
                  <a:srgbClr val="FDF4D4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822192"/>
            <a:ext cx="427939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Retrieve papers based on semantic similarity.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3712464"/>
            <a:ext cx="5349240" cy="932688"/>
          </a:xfrm>
          <a:prstGeom prst="roundRect">
            <a:avLst>
              <a:gd name="adj" fmla="val 9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27648" y="3712464"/>
            <a:ext cx="50292" cy="93268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47104" y="3895344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5E1A16"/>
          </a:solidFill>
          <a:ln w="1143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500" b="1" i="0">
                <a:solidFill>
                  <a:srgbClr val="FDF4D4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3822192"/>
            <a:ext cx="427939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Organize papers, abstracts, methodologies, datasets and findings.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28032"/>
            <a:ext cx="5349240" cy="932688"/>
          </a:xfrm>
          <a:prstGeom prst="roundRect">
            <a:avLst>
              <a:gd name="adj" fmla="val 9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28032"/>
            <a:ext cx="50292" cy="93268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77824" y="5010912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5E1A16"/>
          </a:solidFill>
          <a:ln w="1143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500" b="1" i="0">
                <a:solidFill>
                  <a:srgbClr val="FDF4D4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1056" y="4937760"/>
            <a:ext cx="427939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Support literature review.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4828032"/>
            <a:ext cx="5349240" cy="932688"/>
          </a:xfrm>
          <a:prstGeom prst="roundRect">
            <a:avLst>
              <a:gd name="adj" fmla="val 9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27648" y="4828032"/>
            <a:ext cx="50292" cy="93268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47104" y="5010912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5E1A16"/>
          </a:solidFill>
          <a:ln w="1143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500" b="1" i="0">
                <a:solidFill>
                  <a:srgbClr val="FDF4D4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0336" y="4937760"/>
            <a:ext cx="4279392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Provide a foundation for research-gap identification.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System architecture and processing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078992"/>
            <a:ext cx="2377440" cy="365760"/>
          </a:xfrm>
          <a:prstGeom prst="roundRect">
            <a:avLst>
              <a:gd name="adj" fmla="val 16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DF4D4"/>
                </a:solidFill>
                <a:latin typeface="Calibri"/>
                <a:cs typeface="Calibri"/>
              </a:rPr>
              <a:t>USER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12180" y="1463040"/>
            <a:ext cx="137160" cy="182880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09160" y="1664208"/>
            <a:ext cx="2743200" cy="384048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55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DF4D4"/>
                </a:solidFill>
                <a:latin typeface="Calibri"/>
                <a:cs typeface="Calibri"/>
              </a:rPr>
              <a:t>FLASK WEB INTERFACE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048256"/>
            <a:ext cx="0" cy="201168"/>
          </a:xfrm>
          <a:prstGeom prst="line">
            <a:avLst/>
          </a:prstGeom>
          <a:ln w="1587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88920" y="2249424"/>
            <a:ext cx="6583680" cy="0"/>
          </a:xfrm>
          <a:prstGeom prst="line">
            <a:avLst/>
          </a:prstGeom>
          <a:ln w="1587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own Arrow 11"/>
          <p:cNvSpPr/>
          <p:nvPr/>
        </p:nvSpPr>
        <p:spPr>
          <a:xfrm>
            <a:off x="2729484" y="2212848"/>
            <a:ext cx="118872" cy="128015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72768" y="2359152"/>
            <a:ext cx="2432304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00" b="1" i="0">
                <a:solidFill>
                  <a:srgbClr val="F2E7C9"/>
                </a:solidFill>
                <a:latin typeface="Calibri"/>
                <a:cs typeface="Calibri"/>
              </a:rPr>
              <a:t>UPLOAD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729484" y="2779776"/>
            <a:ext cx="118872" cy="128015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572768" y="2926080"/>
            <a:ext cx="2432304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00" b="1" i="0">
                <a:solidFill>
                  <a:srgbClr val="F2E7C9"/>
                </a:solidFill>
                <a:latin typeface="Calibri"/>
                <a:cs typeface="Calibri"/>
              </a:rPr>
              <a:t>PDF VALIDATION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729484" y="3346704"/>
            <a:ext cx="118872" cy="128015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572768" y="3493008"/>
            <a:ext cx="2432304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00" b="1" i="0">
                <a:solidFill>
                  <a:srgbClr val="F2E7C9"/>
                </a:solidFill>
                <a:latin typeface="Calibri"/>
                <a:cs typeface="Calibri"/>
              </a:rPr>
              <a:t>TEXT EXTRACTION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729484" y="3913631"/>
            <a:ext cx="118872" cy="128015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572768" y="4059935"/>
            <a:ext cx="2432304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00" b="1" i="0">
                <a:solidFill>
                  <a:srgbClr val="F2E7C9"/>
                </a:solidFill>
                <a:latin typeface="Calibri"/>
                <a:cs typeface="Calibri"/>
              </a:rPr>
              <a:t>TEXT EMBEDDING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313164" y="2212848"/>
            <a:ext cx="118872" cy="128015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56448" y="2359152"/>
            <a:ext cx="2432304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00" b="1" i="0">
                <a:solidFill>
                  <a:srgbClr val="F2E7C9"/>
                </a:solidFill>
                <a:latin typeface="Calibri"/>
                <a:cs typeface="Calibri"/>
              </a:rPr>
              <a:t>SEARCH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313164" y="2779776"/>
            <a:ext cx="118872" cy="128015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56448" y="2926080"/>
            <a:ext cx="2432304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00" b="1" i="0">
                <a:solidFill>
                  <a:srgbClr val="F2E7C9"/>
                </a:solidFill>
                <a:latin typeface="Calibri"/>
                <a:cs typeface="Calibri"/>
              </a:rPr>
              <a:t>QUERY EMBEDDING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313164" y="3346704"/>
            <a:ext cx="118872" cy="128015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56448" y="3493008"/>
            <a:ext cx="2432304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00" b="1" i="0">
                <a:solidFill>
                  <a:srgbClr val="F2E7C9"/>
                </a:solidFill>
                <a:latin typeface="Calibri"/>
                <a:cs typeface="Calibri"/>
              </a:rPr>
              <a:t>VECTOR SIMILARITY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313164" y="3913631"/>
            <a:ext cx="118872" cy="128015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56448" y="4059935"/>
            <a:ext cx="2432304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00" b="1" i="0">
                <a:solidFill>
                  <a:srgbClr val="F2E7C9"/>
                </a:solidFill>
                <a:latin typeface="Calibri"/>
                <a:cs typeface="Calibri"/>
              </a:rPr>
              <a:t>RELEVANCE RANKING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88920" y="4462272"/>
            <a:ext cx="0" cy="237744"/>
          </a:xfrm>
          <a:prstGeom prst="line">
            <a:avLst/>
          </a:prstGeom>
          <a:ln w="1587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72600" y="4462272"/>
            <a:ext cx="0" cy="237744"/>
          </a:xfrm>
          <a:prstGeom prst="line">
            <a:avLst/>
          </a:prstGeom>
          <a:ln w="1587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88920" y="4700016"/>
            <a:ext cx="6583680" cy="0"/>
          </a:xfrm>
          <a:prstGeom prst="line">
            <a:avLst/>
          </a:prstGeom>
          <a:ln w="1587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own Arrow 30"/>
          <p:cNvSpPr/>
          <p:nvPr/>
        </p:nvSpPr>
        <p:spPr>
          <a:xfrm>
            <a:off x="6012180" y="4718304"/>
            <a:ext cx="137160" cy="182880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51960" y="4937760"/>
            <a:ext cx="3657600" cy="420624"/>
          </a:xfrm>
          <a:prstGeom prst="roundRect">
            <a:avLst>
              <a:gd name="adj" fmla="val 13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DF4D4"/>
                </a:solidFill>
                <a:latin typeface="Calibri"/>
                <a:cs typeface="Calibri"/>
              </a:rPr>
              <a:t>POSTGRESQL + PGVECTOR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6012180" y="5376672"/>
            <a:ext cx="137160" cy="182880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709160" y="5596128"/>
            <a:ext cx="2743200" cy="402336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55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DF4D4"/>
                </a:solidFill>
                <a:latin typeface="Calibri"/>
                <a:cs typeface="Calibri"/>
              </a:rPr>
              <a:t>RELEVANT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Frameworks, libraries and models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PYTHON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Core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481328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FLASK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Web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481328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HTML / CSS / JAVASCRIPT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Front-end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51760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POSTGRESQL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Relational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651760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PGVECTOR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Vector extension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651760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SENTENCE TRANSFORMERS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Embedding library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22191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ALL-MINILM-L6-V2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Embedding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822191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PYPDF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PDF text 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822191"/>
            <a:ext cx="3401568" cy="969264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00" b="1" i="0">
                <a:solidFill>
                  <a:srgbClr val="FDF4D4"/>
                </a:solidFill>
                <a:latin typeface="Calibri"/>
                <a:cs typeface="Calibri"/>
              </a:rPr>
              <a:t>FLASK-LOGIN</a:t>
            </a:r>
          </a:p>
          <a:p>
            <a:pPr algn="ctr"/>
            <a:r>
              <a:rPr sz="900" b="0" i="0">
                <a:solidFill>
                  <a:srgbClr val="8C8779"/>
                </a:solidFill>
                <a:latin typeface="Calibri"/>
                <a:cs typeface="Calibri"/>
              </a:rPr>
              <a:t>Session &amp; authentication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4487" y="5138928"/>
            <a:ext cx="4389120" cy="658368"/>
          </a:xfrm>
          <a:prstGeom prst="roundRect">
            <a:avLst>
              <a:gd name="adj" fmla="val 12000"/>
            </a:avLst>
          </a:prstGeom>
          <a:solidFill>
            <a:srgbClr val="5E1A16"/>
          </a:solidFill>
          <a:ln w="1397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41648" y="5138928"/>
            <a:ext cx="41148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2E7C9"/>
                </a:solidFill>
                <a:latin typeface="Calibri"/>
                <a:cs typeface="Calibri"/>
              </a:rPr>
              <a:t>Embedding Dimension: </a:t>
            </a:r>
            <a:r>
              <a:rPr sz="1300" b="1" i="0">
                <a:solidFill>
                  <a:srgbClr val="FDF4D4"/>
                </a:solidFill>
                <a:latin typeface="Consolas"/>
                <a:cs typeface="Consolas"/>
              </a:rPr>
              <a:t>384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Implemented modules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98448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98448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User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9936" y="1298448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24728" y="1298448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1298448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PDF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6296" y="1298448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93391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1993391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PDF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1993391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24728" y="1993391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1993391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Text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1993391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688336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2688336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Embedding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6" y="2688336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4728" y="2688336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Database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688336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3280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3383280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Semantic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3383280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24728" y="3383280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3383280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Similarity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383280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078224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" y="4078224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Relevance Ranking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6" y="4078224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24728" y="4078224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4078224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Repository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4078224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773168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4773168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View / Download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9936" y="4773168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24728" y="4773168"/>
            <a:ext cx="4892040" cy="566928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89320" y="4773168"/>
            <a:ext cx="329184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Update / Delete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6296" y="4773168"/>
            <a:ext cx="13716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8FC18A"/>
                </a:solidFill>
                <a:latin typeface="Calibri"/>
                <a:cs typeface="Calibri"/>
              </a:rPr>
              <a:t>✓  Implemented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04688"/>
            <a:ext cx="10259568" cy="658368"/>
          </a:xfrm>
          <a:prstGeom prst="roundRect">
            <a:avLst>
              <a:gd name="adj" fmla="val 12000"/>
            </a:avLst>
          </a:prstGeom>
          <a:solidFill>
            <a:srgbClr val="1E1513"/>
          </a:solidFill>
          <a:ln w="1397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504688"/>
            <a:ext cx="13258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E2B25"/>
                </a:solidFill>
                <a:latin typeface="Calibri"/>
                <a:cs typeface="Calibri"/>
              </a:rPr>
              <a:t>FUTURE 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504688"/>
            <a:ext cx="41148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2E7C9"/>
                </a:solidFill>
                <a:latin typeface="Calibri"/>
                <a:cs typeface="Calibri"/>
              </a:rPr>
              <a:t>Research Gap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504688"/>
            <a:ext cx="42062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2E7C9"/>
                </a:solidFill>
                <a:latin typeface="Calibri"/>
                <a:cs typeface="Calibri"/>
              </a:rPr>
              <a:t>Recommendations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504688"/>
            <a:ext cx="19202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8C8779"/>
                </a:solidFill>
                <a:latin typeface="Calibri"/>
                <a:cs typeface="Calibri"/>
              </a:rPr>
              <a:t>→ Future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96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1 – USER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Secure access to the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4846320" cy="2926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250" b="0" i="0">
                <a:solidFill>
                  <a:srgbClr val="C9C2B0"/>
                </a:solidFill>
                <a:latin typeface="Calibri"/>
                <a:cs typeface="Calibri"/>
              </a:rPr>
              <a:t>User registration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250" b="0" i="0">
                <a:solidFill>
                  <a:srgbClr val="C9C2B0"/>
                </a:solidFill>
                <a:latin typeface="Calibri"/>
                <a:cs typeface="Calibri"/>
              </a:rPr>
              <a:t>User login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250" b="0" i="0">
                <a:solidFill>
                  <a:srgbClr val="C9C2B0"/>
                </a:solidFill>
                <a:latin typeface="Calibri"/>
                <a:cs typeface="Calibri"/>
              </a:rPr>
              <a:t>Authentication using Flask-Login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250" b="0" i="0">
                <a:solidFill>
                  <a:srgbClr val="C9C2B0"/>
                </a:solidFill>
                <a:latin typeface="Calibri"/>
                <a:cs typeface="Calibri"/>
              </a:rPr>
              <a:t>Protected application functionality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2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250" b="0" i="0">
                <a:solidFill>
                  <a:srgbClr val="C9C2B0"/>
                </a:solidFill>
                <a:latin typeface="Calibri"/>
                <a:cs typeface="Calibri"/>
              </a:rPr>
              <a:t>Logout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FA10BA-D561-4254-6CE7-62301B3E2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11" y="2025632"/>
            <a:ext cx="3495872" cy="27658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936600-2E9C-4F05-E047-C876F36B2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2012590"/>
            <a:ext cx="3290878" cy="28328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2 – PDF UPLOAD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Ingestion of research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3246120" cy="530352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User selects PDF</a:t>
            </a:r>
          </a:p>
        </p:txBody>
      </p:sp>
      <p:sp>
        <p:nvSpPr>
          <p:cNvPr id="8" name="Down Arrow 7"/>
          <p:cNvSpPr/>
          <p:nvPr/>
        </p:nvSpPr>
        <p:spPr>
          <a:xfrm>
            <a:off x="2217420" y="1993392"/>
            <a:ext cx="128016" cy="25603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267712"/>
            <a:ext cx="3246120" cy="530352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File validation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217420" y="2816352"/>
            <a:ext cx="128016" cy="25603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3090672"/>
            <a:ext cx="3246120" cy="530352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PDF saved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217420" y="3639312"/>
            <a:ext cx="128016" cy="25603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1"/>
            <a:ext cx="3246120" cy="530352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Text extraction initiated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626864"/>
            <a:ext cx="32918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00" b="0" i="0">
                <a:solidFill>
                  <a:srgbClr val="C9C2B0"/>
                </a:solidFill>
                <a:latin typeface="Calibri"/>
                <a:cs typeface="Calibri"/>
              </a:rPr>
              <a:t>Research papers are uploaded in PDF format.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00" b="0" i="0">
                <a:solidFill>
                  <a:srgbClr val="C9C2B0"/>
                </a:solidFill>
                <a:latin typeface="Calibri"/>
                <a:cs typeface="Calibri"/>
              </a:rPr>
              <a:t>Uploaded files are validated.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00" b="0" i="0">
                <a:solidFill>
                  <a:srgbClr val="C9C2B0"/>
                </a:solidFill>
                <a:latin typeface="Calibri"/>
                <a:cs typeface="Calibri"/>
              </a:rPr>
              <a:t>Valid files are processed for text extraction.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CB30F7-D1D2-598A-B422-BF917FE55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980" y="1975104"/>
            <a:ext cx="750622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3 – TEXT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PDF content to processable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1920240" cy="603504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PDF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51176" y="1645920"/>
            <a:ext cx="256031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71216" y="1444752"/>
            <a:ext cx="1920240" cy="603504"/>
          </a:xfrm>
          <a:prstGeom prst="roundRect">
            <a:avLst>
              <a:gd name="adj" fmla="val 12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PyPDF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5464" y="1645920"/>
            <a:ext cx="256031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75504" y="1444752"/>
            <a:ext cx="1920240" cy="603504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Extracted Text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59752" y="1645920"/>
            <a:ext cx="256031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79792" y="1444752"/>
            <a:ext cx="1920240" cy="603504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Text Processing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64040" y="1645920"/>
            <a:ext cx="256031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84080" y="1444752"/>
            <a:ext cx="1920240" cy="603504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Embedding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31720"/>
            <a:ext cx="1106424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PDF content is extracted using PyPDF.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Extracted text is used for semantic representation.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Extracted text is stored in PostgreSQL.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D5FF68-BF7C-7433-A17D-1F6A0648B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814" y="2630566"/>
            <a:ext cx="6228386" cy="36451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4 – EMBEDDING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Semantic vector representation of research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" y="1389888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Research Paper 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28415" y="1645920"/>
            <a:ext cx="228599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02736" y="1389888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Sentence Transformer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0176" y="1645920"/>
            <a:ext cx="228599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54496" y="1389888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all-MiniLM-L6-v2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31936" y="1645920"/>
            <a:ext cx="228599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06255" y="1389888"/>
            <a:ext cx="2331720" cy="713232"/>
          </a:xfrm>
          <a:prstGeom prst="roundRect">
            <a:avLst>
              <a:gd name="adj" fmla="val 12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384-Dimensional 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432304"/>
            <a:ext cx="5029200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Sentence Transformers are used for semantic representation.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Model: all-MiniLM-L6-v2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Embedding dimension: 384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Both research papers and search queries are converted into vectors.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A609CC-9408-31B6-7428-F213B43F6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26" y="2716736"/>
            <a:ext cx="4341885" cy="3271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5 – DATABASE &amp; VECTOR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Metadata, text and vector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35024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50" b="1" i="0">
                <a:solidFill>
                  <a:srgbClr val="FDF4D4"/>
                </a:solidFill>
                <a:latin typeface="Calibri"/>
                <a:cs typeface="Calibri"/>
              </a:rPr>
              <a:t>PostgreSQL   +   pgvector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56816"/>
            <a:ext cx="5349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C8779"/>
                </a:solidFill>
                <a:latin typeface="Calibri"/>
                <a:cs typeface="Calibri"/>
              </a:rPr>
              <a:t>Table: research_papers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231136"/>
          <a:ext cx="5349240" cy="2176272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DF4D4"/>
                          </a:solidFill>
                          <a:latin typeface="Calibri"/>
                          <a:cs typeface="Calibri"/>
                        </a:rPr>
                        <a:t>research_papers</a:t>
                      </a:r>
                    </a:p>
                  </a:txBody>
                  <a:tcPr marL="146304" marT="9144" marB="9144">
                    <a:solidFill>
                      <a:srgbClr val="5E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C9C2B0"/>
                          </a:solidFill>
                          <a:latin typeface="Consolas"/>
                          <a:cs typeface="Consolas"/>
                        </a:rPr>
                        <a:t>id</a:t>
                      </a:r>
                    </a:p>
                  </a:txBody>
                  <a:tcPr marL="146304" marT="9144" marB="9144"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C9C2B0"/>
                          </a:solidFill>
                          <a:latin typeface="Consolas"/>
                          <a:cs typeface="Consolas"/>
                        </a:rPr>
                        <a:t>title</a:t>
                      </a:r>
                    </a:p>
                  </a:txBody>
                  <a:tcPr marL="146304" marT="9144" marB="9144">
                    <a:solidFill>
                      <a:srgbClr val="1313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C9C2B0"/>
                          </a:solidFill>
                          <a:latin typeface="Consolas"/>
                          <a:cs typeface="Consolas"/>
                        </a:rPr>
                        <a:t>filename</a:t>
                      </a:r>
                    </a:p>
                  </a:txBody>
                  <a:tcPr marL="146304" marT="9144" marB="9144"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C9C2B0"/>
                          </a:solidFill>
                          <a:latin typeface="Consolas"/>
                          <a:cs typeface="Consolas"/>
                        </a:rPr>
                        <a:t>extracted_text</a:t>
                      </a:r>
                    </a:p>
                  </a:txBody>
                  <a:tcPr marL="146304" marT="9144" marB="9144">
                    <a:solidFill>
                      <a:srgbClr val="1313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C9C2B0"/>
                          </a:solidFill>
                          <a:latin typeface="Consolas"/>
                          <a:cs typeface="Consolas"/>
                        </a:rPr>
                        <a:t>uploaded_at</a:t>
                      </a:r>
                    </a:p>
                  </a:txBody>
                  <a:tcPr marL="146304" marT="9144" marB="9144"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C9C2B0"/>
                          </a:solidFill>
                          <a:latin typeface="Consolas"/>
                          <a:cs typeface="Consolas"/>
                        </a:rPr>
                        <a:t>embedding</a:t>
                      </a:r>
                    </a:p>
                  </a:txBody>
                  <a:tcPr marL="146304" marT="9144" marB="9144">
                    <a:solidFill>
                      <a:srgbClr val="1313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663440"/>
            <a:ext cx="544068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C9C2B0"/>
                </a:solidFill>
                <a:latin typeface="Calibri"/>
                <a:cs typeface="Calibri"/>
              </a:rPr>
              <a:t>PostgreSQL stores research-paper metadata and extracted text.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C9C2B0"/>
                </a:solidFill>
                <a:latin typeface="Calibri"/>
                <a:cs typeface="Calibri"/>
              </a:rPr>
              <a:t>pgvector stores 384-dimensional embeddings.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0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050" b="0" i="0">
                <a:solidFill>
                  <a:srgbClr val="C9C2B0"/>
                </a:solidFill>
                <a:latin typeface="Calibri"/>
                <a:cs typeface="Calibri"/>
              </a:rPr>
              <a:t>Vector data enables similarity-based retrieval.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811A38-048D-5115-ED5B-76A35E268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484671"/>
            <a:ext cx="5551327" cy="45137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6 – SEMANTIC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Meaning-based retrieval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16736"/>
            <a:ext cx="3977639" cy="548640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USER QUERY</a:t>
            </a:r>
          </a:p>
        </p:txBody>
      </p:sp>
      <p:sp>
        <p:nvSpPr>
          <p:cNvPr id="8" name="Down Arrow 7"/>
          <p:cNvSpPr/>
          <p:nvPr/>
        </p:nvSpPr>
        <p:spPr>
          <a:xfrm>
            <a:off x="2491740" y="1883664"/>
            <a:ext cx="128016" cy="182879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2084831"/>
            <a:ext cx="3977639" cy="548640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QUERY EMBEDDING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491740" y="2651760"/>
            <a:ext cx="128016" cy="182879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852928"/>
            <a:ext cx="3977639" cy="548640"/>
          </a:xfrm>
          <a:prstGeom prst="roundRect">
            <a:avLst>
              <a:gd name="adj" fmla="val 13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384-D VECTOR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491740" y="3419856"/>
            <a:ext cx="128016" cy="182879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3621024"/>
            <a:ext cx="3977639" cy="548640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PGVECTOR SIMILARITY SEARCH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491740" y="4187951"/>
            <a:ext cx="128016" cy="182879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66928" y="4389120"/>
            <a:ext cx="3977639" cy="548640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RELEVANCE RANKING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491740" y="4956047"/>
            <a:ext cx="128016" cy="182879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5157216"/>
            <a:ext cx="3977639" cy="548640"/>
          </a:xfrm>
          <a:prstGeom prst="roundRect">
            <a:avLst>
              <a:gd name="adj" fmla="val 13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SEARCH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353312"/>
            <a:ext cx="67208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Search queries are converted into embeddings.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Query embeddings are compared with stored paper embeddings.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Similar papers are retrieved using vector similarity.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Results are ranked by relevance.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9F66D0A-FC61-3312-A833-631CE42AD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672294"/>
            <a:ext cx="4877223" cy="35664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7 – SIMILARITY SEARCH &amp;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Cosine-distance retrieval over stored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5989320" cy="3108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Query embedding is generated.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Stored research-paper embeddings are compared with the query.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pgvector performs cosine-distance based similarity search.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Results are ordered by semantic relevance.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Top relevant papers are returned.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84848" y="1316736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1" i="0">
                <a:solidFill>
                  <a:srgbClr val="F2E7C9"/>
                </a:solidFill>
                <a:latin typeface="Calibri"/>
                <a:cs typeface="Calibri"/>
              </a:rPr>
              <a:t>Query Vector</a:t>
            </a:r>
          </a:p>
        </p:txBody>
      </p:sp>
      <p:sp>
        <p:nvSpPr>
          <p:cNvPr id="9" name="Down Arrow 8"/>
          <p:cNvSpPr/>
          <p:nvPr/>
        </p:nvSpPr>
        <p:spPr>
          <a:xfrm>
            <a:off x="9148572" y="1792224"/>
            <a:ext cx="118872" cy="16459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84848" y="1975104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1" i="0">
                <a:solidFill>
                  <a:srgbClr val="F2E7C9"/>
                </a:solidFill>
                <a:latin typeface="Calibri"/>
                <a:cs typeface="Calibri"/>
              </a:rPr>
              <a:t>Cosine Similarity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148572" y="2450592"/>
            <a:ext cx="118872" cy="16459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84848" y="2633472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1" i="0">
                <a:solidFill>
                  <a:srgbClr val="F2E7C9"/>
                </a:solidFill>
                <a:latin typeface="Calibri"/>
                <a:cs typeface="Calibri"/>
              </a:rPr>
              <a:t>Similarity Scores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48572" y="3108960"/>
            <a:ext cx="118872" cy="16459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84848" y="3291840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1" i="0">
                <a:solidFill>
                  <a:srgbClr val="F2E7C9"/>
                </a:solidFill>
                <a:latin typeface="Calibri"/>
                <a:cs typeface="Calibri"/>
              </a:rPr>
              <a:t>Ranking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148572" y="3767327"/>
            <a:ext cx="118872" cy="16459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84848" y="3950208"/>
            <a:ext cx="4846320" cy="457200"/>
          </a:xfrm>
          <a:prstGeom prst="roundRect">
            <a:avLst>
              <a:gd name="adj" fmla="val 1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1" i="0">
                <a:solidFill>
                  <a:srgbClr val="F2E7C9"/>
                </a:solidFill>
                <a:latin typeface="Calibri"/>
                <a:cs typeface="Calibri"/>
              </a:rPr>
              <a:t>Top Relevant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563978-02F9-ECB9-200D-17D0E676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163" y="3060328"/>
            <a:ext cx="3858612" cy="3279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INTERMEDIATE RESULT – SEMANTIC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Working prototype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642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Search returns semantically relevant research papers.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Results are ranked according to similarity.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50" b="0" i="0">
                <a:solidFill>
                  <a:srgbClr val="C9C2B0"/>
                </a:solidFill>
                <a:latin typeface="Calibri"/>
                <a:cs typeface="Calibri"/>
              </a:rPr>
              <a:t>Users can access relevant papers from the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DA5D04-8B02-39EF-B408-EE586DD76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987" y="1993392"/>
            <a:ext cx="9447213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MODULE 8 – RESEARCH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Central access point to stored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80160"/>
            <a:ext cx="1106424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2E7C9"/>
                </a:solidFill>
                <a:latin typeface="Calibri"/>
                <a:cs typeface="Calibri"/>
              </a:rPr>
              <a:t>The repository provides: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2606040" cy="548640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View paper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627632"/>
            <a:ext cx="2606040" cy="548640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Download paper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27632"/>
            <a:ext cx="2606040" cy="548640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Update paper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5" y="1627632"/>
            <a:ext cx="2606040" cy="548640"/>
          </a:xfrm>
          <a:prstGeom prst="roundRect">
            <a:avLst>
              <a:gd name="adj" fmla="val 13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50" b="1" i="0">
                <a:solidFill>
                  <a:srgbClr val="F2E7C9"/>
                </a:solidFill>
                <a:latin typeface="Calibri"/>
                <a:cs typeface="Calibri"/>
              </a:rPr>
              <a:t>Delete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9A0F513-1033-5834-7175-485CC2AFB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846" y="2371382"/>
            <a:ext cx="7718307" cy="41048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PAPER MANAGEMENT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Managing uploaded papers through 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9467" y="1316736"/>
            <a:ext cx="228600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50" b="1" i="0">
                <a:solidFill>
                  <a:srgbClr val="FDF4D4"/>
                </a:solidFill>
                <a:latin typeface="Calibri"/>
                <a:cs typeface="Calibri"/>
              </a:rPr>
              <a:t>VIEW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6051" y="1527048"/>
            <a:ext cx="301752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58387" y="1316736"/>
            <a:ext cx="228600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50" b="1" i="0">
                <a:solidFill>
                  <a:srgbClr val="FDF4D4"/>
                </a:solidFill>
                <a:latin typeface="Calibri"/>
                <a:cs typeface="Calibri"/>
              </a:rPr>
              <a:t>DOWNLOAD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4971" y="1527048"/>
            <a:ext cx="301752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47307" y="1316736"/>
            <a:ext cx="228600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50" b="1" i="0">
                <a:solidFill>
                  <a:srgbClr val="FDF4D4"/>
                </a:solidFill>
                <a:latin typeface="Calibri"/>
                <a:cs typeface="Calibri"/>
              </a:rPr>
              <a:t>UPDATE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3891" y="1527048"/>
            <a:ext cx="301752" cy="201168"/>
          </a:xfrm>
          <a:prstGeom prst="right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36227" y="1316736"/>
            <a:ext cx="2286000" cy="621792"/>
          </a:xfrm>
          <a:prstGeom prst="roundRect">
            <a:avLst>
              <a:gd name="adj" fmla="val 12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250" b="1" i="0">
                <a:solidFill>
                  <a:srgbClr val="FDF4D4"/>
                </a:solidFill>
                <a:latin typeface="Calibri"/>
                <a:cs typeface="Calibri"/>
              </a:rPr>
              <a:t>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48256"/>
            <a:ext cx="110642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Uploaded papers can be managed through the repository interface.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A1D8A9-0BCF-F176-8528-AC64DDFC4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9" y="2672334"/>
            <a:ext cx="5918828" cy="31135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0915D15-EEE6-DCA3-1805-714430A55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06" y="2386584"/>
            <a:ext cx="5571256" cy="39684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INTERMEDIATE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Functional status of the working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371600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Registration Working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71600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371600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371600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Login Working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7" y="1371600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1" y="1371600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5" y="1371600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PDF Upload Working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139696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139696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2139696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PDF Extraction Working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139696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62272" y="2139696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2139696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384-D Embedding Generation Working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7" y="2139696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1" y="2139696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5" y="2139696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PostgreSQL Storage Working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907792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2907792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2907792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pgvector Search Working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2907792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2272" y="2907792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2896" y="2907792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Semantic Search Working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7" y="2907792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1311" y="2907792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5" y="2907792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Relevance Ranking Working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675888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75888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" y="3675888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Repository Working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15968" y="3675888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62272" y="3675888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2896" y="3675888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View / Download Working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5007" y="3675888"/>
            <a:ext cx="3566160" cy="621792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1" y="3675888"/>
            <a:ext cx="36576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C18A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1935" y="3675888"/>
            <a:ext cx="2852928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Update / Delete Working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754880"/>
            <a:ext cx="11064240" cy="713232"/>
          </a:xfrm>
          <a:prstGeom prst="roundRect">
            <a:avLst>
              <a:gd name="adj" fmla="val 10000"/>
            </a:avLst>
          </a:prstGeom>
          <a:solidFill>
            <a:srgbClr val="1E1513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4754880"/>
            <a:ext cx="10515600" cy="7132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F2E7C9"/>
                </a:solidFill>
                <a:latin typeface="Calibri"/>
                <a:cs typeface="Calibri"/>
              </a:rPr>
              <a:t>Status indicates functional verification of each module; no accuracy or performance values are claimed at this stage.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IMPLEMENTATION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Screenshots of working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291840"/>
            <a:ext cx="54864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 dirty="0">
                <a:solidFill>
                  <a:srgbClr val="8C8779"/>
                </a:solidFill>
                <a:latin typeface="Calibri"/>
                <a:cs typeface="Calibri"/>
              </a:rPr>
              <a:t>PDF upload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3145536"/>
            <a:ext cx="54864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8C8779"/>
                </a:solidFill>
                <a:latin typeface="Calibri"/>
                <a:cs typeface="Calibri"/>
              </a:rPr>
              <a:t>384-dimensional embedding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34173"/>
            <a:ext cx="54864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 dirty="0">
                <a:solidFill>
                  <a:srgbClr val="8C8779"/>
                </a:solidFill>
                <a:latin typeface="Calibri"/>
                <a:cs typeface="Calibri"/>
              </a:rPr>
              <a:t>Semantic search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426" y="5734173"/>
            <a:ext cx="54864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 dirty="0">
                <a:solidFill>
                  <a:srgbClr val="8C8779"/>
                </a:solidFill>
                <a:latin typeface="Calibri"/>
                <a:cs typeface="Calibri"/>
              </a:rPr>
              <a:t>Repository management page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526EF5-13CC-ADEF-01AC-F53125A26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275" y="1083825"/>
            <a:ext cx="3813338" cy="22214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D36000-72A6-AEF0-BEFB-BE7FACE55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16" y="3511295"/>
            <a:ext cx="4515823" cy="2098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A628B7-4DED-CDCE-75E3-D2AEF4148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45" y="3474721"/>
            <a:ext cx="4498895" cy="22214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B6FCD9C-453B-0690-B7B3-41E81E969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095" y="1207008"/>
            <a:ext cx="6353745" cy="17710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CURRENT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Preliminary and functional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43584"/>
            <a:ext cx="1106424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Evaluation at Review 3 is preliminary and functional. The focus is on verifying that each module operates as intended.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82496"/>
            <a:ext cx="5486400" cy="4224528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810512"/>
            <a:ext cx="493776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DF4D4"/>
                </a:solidFill>
                <a:latin typeface="Palatino Linotype"/>
                <a:cs typeface="Palatino Linotype"/>
              </a:rPr>
              <a:t>CURRENT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139696"/>
            <a:ext cx="822960" cy="27432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304288"/>
            <a:ext cx="4937760" cy="3474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Authentication tested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PDF upload tested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Text extraction tested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384-dimensional embeddings verified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Database storage verified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Semantic search tested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Similarity ranking verified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▪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Repository operations tested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682496"/>
            <a:ext cx="5303520" cy="4224528"/>
          </a:xfrm>
          <a:prstGeom prst="roundRect">
            <a:avLst>
              <a:gd name="adj" fmla="val 5000"/>
            </a:avLst>
          </a:prstGeom>
          <a:solidFill>
            <a:srgbClr val="1E1513"/>
          </a:solidFill>
          <a:ln w="1397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810512"/>
            <a:ext cx="475488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DF4D4"/>
                </a:solidFill>
                <a:latin typeface="Palatino Linotype"/>
                <a:cs typeface="Palatino Linotype"/>
              </a:rPr>
              <a:t>FUTURE QUANTITATIVE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0256" y="2139696"/>
            <a:ext cx="822960" cy="27432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6" y="2304288"/>
            <a:ext cx="4754880" cy="3474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7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→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Precision@K</a:t>
            </a:r>
          </a:p>
          <a:p>
            <a:pPr algn="l">
              <a:lnSpc>
                <a:spcPct val="100000"/>
              </a:lnSpc>
              <a:spcAft>
                <a:spcPts val="17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→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Recall@K</a:t>
            </a:r>
          </a:p>
          <a:p>
            <a:pPr algn="l">
              <a:lnSpc>
                <a:spcPct val="100000"/>
              </a:lnSpc>
              <a:spcAft>
                <a:spcPts val="17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→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Top-K relevance</a:t>
            </a:r>
          </a:p>
          <a:p>
            <a:pPr algn="l">
              <a:lnSpc>
                <a:spcPct val="100000"/>
              </a:lnSpc>
              <a:spcAft>
                <a:spcPts val="17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→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Keyword vs semantic search comparison</a:t>
            </a:r>
          </a:p>
          <a:p>
            <a:pPr algn="l">
              <a:lnSpc>
                <a:spcPct val="100000"/>
              </a:lnSpc>
              <a:spcAft>
                <a:spcPts val="17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→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Search response time</a:t>
            </a:r>
          </a:p>
          <a:p>
            <a:pPr algn="l">
              <a:lnSpc>
                <a:spcPct val="100000"/>
              </a:lnSpc>
              <a:spcAft>
                <a:spcPts val="1700"/>
              </a:spcAft>
            </a:pPr>
            <a:r>
              <a:rPr sz="1100" b="0" i="0">
                <a:solidFill>
                  <a:srgbClr val="9E2B25"/>
                </a:solidFill>
                <a:latin typeface="Calibri"/>
                <a:cs typeface="Calibri"/>
              </a:rPr>
              <a:t>→  </a:t>
            </a:r>
            <a:r>
              <a:rPr sz="1100" b="0" i="0">
                <a:solidFill>
                  <a:srgbClr val="C9C2B0"/>
                </a:solidFill>
                <a:latin typeface="Calibri"/>
                <a:cs typeface="Calibri"/>
              </a:rPr>
              <a:t>Larger dataset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NOVELTY OF THE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Meaning-based retrieval versus keyword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44752"/>
            <a:ext cx="484632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C2B0"/>
                </a:solidFill>
                <a:latin typeface="Palatino Linotype"/>
                <a:cs typeface="Palatino Linotype"/>
              </a:rPr>
              <a:t>TRADITIONAL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1773936"/>
            <a:ext cx="822960" cy="27432"/>
          </a:xfrm>
          <a:prstGeom prst="rect">
            <a:avLst/>
          </a:prstGeom>
          <a:solidFill>
            <a:srgbClr val="55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" y="2331720"/>
            <a:ext cx="4590288" cy="512064"/>
          </a:xfrm>
          <a:prstGeom prst="roundRect">
            <a:avLst>
              <a:gd name="adj" fmla="val 14000"/>
            </a:avLst>
          </a:prstGeom>
          <a:solidFill>
            <a:srgbClr val="131313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C9C2B0"/>
                </a:solidFill>
                <a:latin typeface="Calibri"/>
                <a:cs typeface="Calibri"/>
              </a:rPr>
              <a:t>Query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00400" y="2862072"/>
            <a:ext cx="128016" cy="411480"/>
          </a:xfrm>
          <a:prstGeom prst="downArrow">
            <a:avLst/>
          </a:prstGeom>
          <a:solidFill>
            <a:srgbClr val="55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9264" y="3291839"/>
            <a:ext cx="4590288" cy="512064"/>
          </a:xfrm>
          <a:prstGeom prst="roundRect">
            <a:avLst>
              <a:gd name="adj" fmla="val 14000"/>
            </a:avLst>
          </a:prstGeom>
          <a:solidFill>
            <a:srgbClr val="131313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C9C2B0"/>
                </a:solidFill>
                <a:latin typeface="Calibri"/>
                <a:cs typeface="Calibri"/>
              </a:rPr>
              <a:t>Keyword Matching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200400" y="3822191"/>
            <a:ext cx="128016" cy="411480"/>
          </a:xfrm>
          <a:prstGeom prst="downArrow">
            <a:avLst/>
          </a:prstGeom>
          <a:solidFill>
            <a:srgbClr val="55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9264" y="4251960"/>
            <a:ext cx="4590288" cy="512064"/>
          </a:xfrm>
          <a:prstGeom prst="roundRect">
            <a:avLst>
              <a:gd name="adj" fmla="val 14000"/>
            </a:avLst>
          </a:prstGeom>
          <a:solidFill>
            <a:srgbClr val="131313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C9C2B0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298448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1E1513"/>
          </a:solidFill>
          <a:ln w="1397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444752"/>
            <a:ext cx="484632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DF4D4"/>
                </a:solidFill>
                <a:latin typeface="Palatino Linotype"/>
                <a:cs typeface="Palatino Linotype"/>
              </a:rPr>
              <a:t>PROPOSED APPROACH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28816" y="1773936"/>
            <a:ext cx="822960" cy="27432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38544" y="2139696"/>
            <a:ext cx="4590288" cy="475488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Query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874252" y="2624328"/>
            <a:ext cx="118872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38544" y="2761488"/>
            <a:ext cx="4590288" cy="475488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Query Embedding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874252" y="3246120"/>
            <a:ext cx="118872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38544" y="3383280"/>
            <a:ext cx="4590288" cy="475488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Semantic Similarity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874252" y="3867912"/>
            <a:ext cx="118872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38544" y="4005072"/>
            <a:ext cx="4590288" cy="475488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Ranking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74252" y="4489704"/>
            <a:ext cx="118872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638544" y="4626864"/>
            <a:ext cx="4590288" cy="475488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100" b="1" i="0">
                <a:solidFill>
                  <a:srgbClr val="F2E7C9"/>
                </a:solidFill>
                <a:latin typeface="Calibri"/>
                <a:cs typeface="Calibri"/>
              </a:rPr>
              <a:t>Relevant Research Papers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41264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1C1B19"/>
          </a:solidFill>
          <a:ln w="12700">
            <a:solidFill>
              <a:srgbClr val="55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5541264"/>
            <a:ext cx="1051560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F2E7C9"/>
                </a:solidFill>
                <a:latin typeface="Calibri"/>
                <a:cs typeface="Calibri"/>
              </a:rPr>
              <a:t>“The system integrates semantic vector retrieval with a research-paper repository, enabling meaning-based retrieval rather than relying only on exact keyword matching.”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ADAPTABILITY &amp; FUTURE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An expandable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6024" y="1280160"/>
            <a:ext cx="4480560" cy="402336"/>
          </a:xfrm>
          <a:prstGeom prst="roundRect">
            <a:avLst>
              <a:gd name="adj" fmla="val 16000"/>
            </a:avLst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1" i="0">
                <a:solidFill>
                  <a:srgbClr val="FDF4D4"/>
                </a:solidFill>
                <a:latin typeface="Calibri"/>
                <a:cs typeface="Calibri"/>
              </a:rPr>
              <a:t>CURRENT SYSTEM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41440" y="1696211"/>
            <a:ext cx="109728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55440" y="1828800"/>
            <a:ext cx="4681728" cy="402336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0" i="0">
                <a:solidFill>
                  <a:srgbClr val="F2E7C9"/>
                </a:solidFill>
                <a:latin typeface="Calibri"/>
                <a:cs typeface="Calibri"/>
              </a:rPr>
              <a:t>Larger Research Dataset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41440" y="2244852"/>
            <a:ext cx="109728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4856" y="2377439"/>
            <a:ext cx="4882896" cy="402336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0" i="0">
                <a:solidFill>
                  <a:srgbClr val="F2E7C9"/>
                </a:solidFill>
                <a:latin typeface="Calibri"/>
                <a:cs typeface="Calibri"/>
              </a:rPr>
              <a:t>Different Embedding Models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41440" y="2793491"/>
            <a:ext cx="109728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54272" y="2926079"/>
            <a:ext cx="5084064" cy="402336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0" i="0">
                <a:solidFill>
                  <a:srgbClr val="F2E7C9"/>
                </a:solidFill>
                <a:latin typeface="Calibri"/>
                <a:cs typeface="Calibri"/>
              </a:rPr>
              <a:t>Metadata Filtering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041440" y="3342132"/>
            <a:ext cx="109728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53688" y="3474720"/>
            <a:ext cx="5285232" cy="402336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0" i="0">
                <a:solidFill>
                  <a:srgbClr val="F2E7C9"/>
                </a:solidFill>
                <a:latin typeface="Calibri"/>
                <a:cs typeface="Calibri"/>
              </a:rPr>
              <a:t>Citation Analysis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41440" y="3890772"/>
            <a:ext cx="109728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53104" y="4023360"/>
            <a:ext cx="5486400" cy="402336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0" i="0">
                <a:solidFill>
                  <a:srgbClr val="F2E7C9"/>
                </a:solidFill>
                <a:latin typeface="Calibri"/>
                <a:cs typeface="Calibri"/>
              </a:rPr>
              <a:t>Paper Summarization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041440" y="4439412"/>
            <a:ext cx="109728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52520" y="4572000"/>
            <a:ext cx="5687568" cy="402336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0" i="0">
                <a:solidFill>
                  <a:srgbClr val="F2E7C9"/>
                </a:solidFill>
                <a:latin typeface="Calibri"/>
                <a:cs typeface="Calibri"/>
              </a:rPr>
              <a:t>Question Answering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41440" y="4988052"/>
            <a:ext cx="109728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151936" y="5120640"/>
            <a:ext cx="5888736" cy="402336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0" i="0">
                <a:solidFill>
                  <a:srgbClr val="F2E7C9"/>
                </a:solidFill>
                <a:latin typeface="Calibri"/>
                <a:cs typeface="Calibri"/>
              </a:rPr>
              <a:t>Research Recommendations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41440" y="5536692"/>
            <a:ext cx="109728" cy="118872"/>
          </a:xfrm>
          <a:prstGeom prst="downArrow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051352" y="5669279"/>
            <a:ext cx="6089904" cy="402336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/>
            <a:r>
              <a:rPr sz="1050" b="0" i="0">
                <a:solidFill>
                  <a:srgbClr val="F2E7C9"/>
                </a:solidFill>
                <a:latin typeface="Calibri"/>
                <a:cs typeface="Calibri"/>
              </a:rPr>
              <a:t>Research Gap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663440"/>
            <a:ext cx="310896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C8779"/>
                </a:solidFill>
                <a:latin typeface="Calibri"/>
                <a:cs typeface="Calibri"/>
              </a:rPr>
              <a:t>Each extension builds on the same repository and embedding pipeline.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CURRENT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Scope of the Review 3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35024"/>
            <a:ext cx="5349240" cy="1115568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45720" cy="11155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34816"/>
            <a:ext cx="4800600" cy="3159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Current research-paper dataset is limited</a:t>
            </a:r>
            <a:r>
              <a:rPr sz="1150" b="0" i="0" dirty="0">
                <a:solidFill>
                  <a:srgbClr val="C9C2B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3368" y="1335024"/>
            <a:ext cx="5349240" cy="1115568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3368" y="1335024"/>
            <a:ext cx="45720" cy="11155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84264" y="1734816"/>
            <a:ext cx="4800600" cy="3159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Search evaluation is preliminary.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51760"/>
            <a:ext cx="5349240" cy="1115568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2651760"/>
            <a:ext cx="45720" cy="11155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051552"/>
            <a:ext cx="4800600" cy="3159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Quantitative evaluation is pending.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3368" y="2651760"/>
            <a:ext cx="5349240" cy="1115568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73368" y="2651760"/>
            <a:ext cx="45720" cy="11155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84264" y="3051552"/>
            <a:ext cx="4800600" cy="3159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Research-gap detection is not yet implemented.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968496"/>
            <a:ext cx="5349240" cy="1115568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3968496"/>
            <a:ext cx="45720" cy="11155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4222863"/>
            <a:ext cx="4800600" cy="60683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Recommendation functionality is not yet implemented.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3968496"/>
            <a:ext cx="5349240" cy="1115568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143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73368" y="3968496"/>
            <a:ext cx="45720" cy="111556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84264" y="4222863"/>
            <a:ext cx="4800600" cy="60683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Large-scale performance has not yet been evaluated.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230368"/>
            <a:ext cx="11064240" cy="749808"/>
          </a:xfrm>
          <a:prstGeom prst="roundRect">
            <a:avLst>
              <a:gd name="adj" fmla="val 10000"/>
            </a:avLst>
          </a:prstGeom>
          <a:solidFill>
            <a:srgbClr val="1E1513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448306"/>
            <a:ext cx="10515600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1" dirty="0">
                <a:solidFill>
                  <a:srgbClr val="F2E7C9"/>
                </a:solidFill>
                <a:latin typeface="Calibri"/>
                <a:cs typeface="Calibri"/>
              </a:rPr>
              <a:t>These limitations confirm that the presentation reflects a Review 3 progress stage rather than a final project.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473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786384"/>
            <a:ext cx="786384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C8779"/>
                </a:solidFill>
                <a:latin typeface="Calibri"/>
                <a:cs typeface="Calibri"/>
              </a:rPr>
              <a:t>Roadmap from prototype to final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24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3154680"/>
            <a:ext cx="10104120" cy="0"/>
          </a:xfrm>
          <a:prstGeom prst="line">
            <a:avLst/>
          </a:prstGeom>
          <a:ln w="19050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60704" y="2980944"/>
            <a:ext cx="347472" cy="347472"/>
          </a:xfrm>
          <a:prstGeom prst="ellipse">
            <a:avLst/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2980944"/>
            <a:ext cx="347472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DF4D4"/>
                </a:solidFill>
                <a:latin typeface="Calibri"/>
                <a:cs typeface="Calibri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1874519"/>
            <a:ext cx="0" cy="1106425"/>
          </a:xfrm>
          <a:prstGeom prst="line">
            <a:avLst/>
          </a:prstGeom>
          <a:ln w="952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7471" y="1455730"/>
            <a:ext cx="2267907" cy="283154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FDF4D4"/>
                </a:solidFill>
                <a:latin typeface="Calibri"/>
                <a:cs typeface="Calibri"/>
              </a:rPr>
              <a:t>WORKING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658" y="1638602"/>
            <a:ext cx="2299717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 dirty="0">
                <a:solidFill>
                  <a:srgbClr val="8C8779"/>
                </a:solidFill>
                <a:latin typeface="Calibri"/>
                <a:cs typeface="Calibri"/>
              </a:rPr>
              <a:t>Core modules implemented</a:t>
            </a:r>
          </a:p>
        </p:txBody>
      </p:sp>
      <p:sp>
        <p:nvSpPr>
          <p:cNvPr id="13" name="Oval 12"/>
          <p:cNvSpPr/>
          <p:nvPr/>
        </p:nvSpPr>
        <p:spPr>
          <a:xfrm>
            <a:off x="2734056" y="2980944"/>
            <a:ext cx="347472" cy="347472"/>
          </a:xfrm>
          <a:prstGeom prst="ellipse">
            <a:avLst/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4056" y="2980944"/>
            <a:ext cx="347472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DF4D4"/>
                </a:solidFill>
                <a:latin typeface="Calibri"/>
                <a:cs typeface="Calibri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07792" y="3328416"/>
            <a:ext cx="0" cy="713232"/>
          </a:xfrm>
          <a:prstGeom prst="line">
            <a:avLst/>
          </a:prstGeom>
          <a:ln w="952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20824" y="4041648"/>
            <a:ext cx="1783080" cy="566928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DF4D4"/>
                </a:solidFill>
                <a:latin typeface="Calibri"/>
                <a:cs typeface="Calibri"/>
              </a:rPr>
              <a:t>LARGER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0824" y="4608576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779"/>
                </a:solidFill>
                <a:latin typeface="Calibri"/>
                <a:cs typeface="Calibri"/>
              </a:rPr>
              <a:t>More research papers</a:t>
            </a:r>
          </a:p>
        </p:txBody>
      </p:sp>
      <p:sp>
        <p:nvSpPr>
          <p:cNvPr id="18" name="Oval 17"/>
          <p:cNvSpPr/>
          <p:nvPr/>
        </p:nvSpPr>
        <p:spPr>
          <a:xfrm>
            <a:off x="4407407" y="2980944"/>
            <a:ext cx="347472" cy="347472"/>
          </a:xfrm>
          <a:prstGeom prst="ellipse">
            <a:avLst/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7" y="2980944"/>
            <a:ext cx="347472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DF4D4"/>
                </a:solidFill>
                <a:latin typeface="Calibri"/>
                <a:cs typeface="Calibri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81144" y="1874519"/>
            <a:ext cx="0" cy="1106425"/>
          </a:xfrm>
          <a:prstGeom prst="line">
            <a:avLst/>
          </a:prstGeom>
          <a:ln w="952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08616" y="1445013"/>
            <a:ext cx="2546223" cy="283154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FDF4D4"/>
                </a:solidFill>
                <a:latin typeface="Calibri"/>
                <a:cs typeface="Calibri"/>
              </a:rPr>
              <a:t>QUANTITATIVE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1416" y="1688846"/>
            <a:ext cx="17830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 dirty="0" err="1">
                <a:solidFill>
                  <a:srgbClr val="8C8779"/>
                </a:solidFill>
                <a:latin typeface="Calibri"/>
                <a:cs typeface="Calibri"/>
              </a:rPr>
              <a:t>Precision@K</a:t>
            </a:r>
            <a:r>
              <a:rPr sz="1400" b="0" i="0" dirty="0">
                <a:solidFill>
                  <a:srgbClr val="8C8779"/>
                </a:solidFill>
                <a:latin typeface="Calibri"/>
                <a:cs typeface="Calibri"/>
              </a:rPr>
              <a:t>, </a:t>
            </a:r>
            <a:r>
              <a:rPr sz="1400" b="0" i="0" dirty="0" err="1">
                <a:solidFill>
                  <a:srgbClr val="8C8779"/>
                </a:solidFill>
                <a:latin typeface="Calibri"/>
                <a:cs typeface="Calibri"/>
              </a:rPr>
              <a:t>Recall@K</a:t>
            </a:r>
            <a:endParaRPr sz="1400" b="0" i="0" dirty="0">
              <a:solidFill>
                <a:srgbClr val="8C8779"/>
              </a:solidFill>
              <a:latin typeface="Calibri"/>
              <a:cs typeface="Calibri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080759" y="2980944"/>
            <a:ext cx="347472" cy="347472"/>
          </a:xfrm>
          <a:prstGeom prst="ellipse">
            <a:avLst/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59" y="2980944"/>
            <a:ext cx="347472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DF4D4"/>
                </a:solidFill>
                <a:latin typeface="Calibri"/>
                <a:cs typeface="Calibri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54496" y="3328416"/>
            <a:ext cx="0" cy="713232"/>
          </a:xfrm>
          <a:prstGeom prst="line">
            <a:avLst/>
          </a:prstGeom>
          <a:ln w="952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67528" y="4041648"/>
            <a:ext cx="1783080" cy="566928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DF4D4"/>
                </a:solidFill>
                <a:latin typeface="Calibri"/>
                <a:cs typeface="Calibri"/>
              </a:rPr>
              <a:t>KEYWORD vs SEMANTIC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4608576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779"/>
                </a:solidFill>
                <a:latin typeface="Calibri"/>
                <a:cs typeface="Calibri"/>
              </a:rPr>
              <a:t>Retrieval quality comparison</a:t>
            </a:r>
          </a:p>
        </p:txBody>
      </p:sp>
      <p:sp>
        <p:nvSpPr>
          <p:cNvPr id="28" name="Oval 27"/>
          <p:cNvSpPr/>
          <p:nvPr/>
        </p:nvSpPr>
        <p:spPr>
          <a:xfrm>
            <a:off x="7754112" y="2980944"/>
            <a:ext cx="347472" cy="347472"/>
          </a:xfrm>
          <a:prstGeom prst="ellipse">
            <a:avLst/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54112" y="2980944"/>
            <a:ext cx="347472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DF4D4"/>
                </a:solidFill>
                <a:latin typeface="Calibri"/>
                <a:cs typeface="Calibri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27848" y="1874519"/>
            <a:ext cx="0" cy="1106425"/>
          </a:xfrm>
          <a:prstGeom prst="line">
            <a:avLst/>
          </a:prstGeom>
          <a:ln w="952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748077" y="1376326"/>
            <a:ext cx="2560320" cy="283154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FDF4D4"/>
                </a:solidFill>
                <a:latin typeface="Calibri"/>
                <a:cs typeface="Calibri"/>
              </a:rPr>
              <a:t>RESEARCH GAP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209" y="1611171"/>
            <a:ext cx="273405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 dirty="0">
                <a:solidFill>
                  <a:srgbClr val="8C8779"/>
                </a:solidFill>
                <a:latin typeface="Calibri"/>
                <a:cs typeface="Calibri"/>
              </a:rPr>
              <a:t>Identify under-explored areas</a:t>
            </a:r>
          </a:p>
        </p:txBody>
      </p:sp>
      <p:sp>
        <p:nvSpPr>
          <p:cNvPr id="33" name="Oval 32"/>
          <p:cNvSpPr/>
          <p:nvPr/>
        </p:nvSpPr>
        <p:spPr>
          <a:xfrm>
            <a:off x="9427464" y="2980944"/>
            <a:ext cx="347472" cy="347472"/>
          </a:xfrm>
          <a:prstGeom prst="ellipse">
            <a:avLst/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27464" y="2980944"/>
            <a:ext cx="347472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DF4D4"/>
                </a:solidFill>
                <a:latin typeface="Calibri"/>
                <a:cs typeface="Calibri"/>
              </a:rPr>
              <a:t>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01200" y="3328416"/>
            <a:ext cx="0" cy="713232"/>
          </a:xfrm>
          <a:prstGeom prst="line">
            <a:avLst/>
          </a:prstGeom>
          <a:ln w="952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714232" y="4041648"/>
            <a:ext cx="1783080" cy="566928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DF4D4"/>
                </a:solidFill>
                <a:latin typeface="Calibri"/>
                <a:cs typeface="Calibri"/>
              </a:rPr>
              <a:t>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4608576"/>
            <a:ext cx="1783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C8779"/>
                </a:solidFill>
                <a:latin typeface="Calibri"/>
                <a:cs typeface="Calibri"/>
              </a:rPr>
              <a:t>Suggest related papers</a:t>
            </a:r>
          </a:p>
        </p:txBody>
      </p:sp>
      <p:sp>
        <p:nvSpPr>
          <p:cNvPr id="38" name="Oval 37"/>
          <p:cNvSpPr/>
          <p:nvPr/>
        </p:nvSpPr>
        <p:spPr>
          <a:xfrm>
            <a:off x="11100816" y="2980944"/>
            <a:ext cx="347472" cy="347472"/>
          </a:xfrm>
          <a:prstGeom prst="ellipse">
            <a:avLst/>
          </a:prstGeom>
          <a:solidFill>
            <a:srgbClr val="5E1A16"/>
          </a:solidFill>
          <a:ln w="12700">
            <a:solidFill>
              <a:srgbClr val="9E2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100816" y="2980944"/>
            <a:ext cx="347472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DF4D4"/>
                </a:solidFill>
                <a:latin typeface="Calibri"/>
                <a:cs typeface="Calibri"/>
              </a:rPr>
              <a:t>7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274552" y="1874519"/>
            <a:ext cx="0" cy="1106425"/>
          </a:xfrm>
          <a:prstGeom prst="line">
            <a:avLst/>
          </a:prstGeom>
          <a:ln w="9525">
            <a:solidFill>
              <a:srgbClr val="555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287000" y="1394615"/>
            <a:ext cx="1783080" cy="283154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FDF4D4"/>
                </a:solidFill>
                <a:latin typeface="Calibri"/>
                <a:cs typeface="Calibri"/>
              </a:rPr>
              <a:t>FINAL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3531" y="1631671"/>
            <a:ext cx="2395728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 dirty="0">
                <a:solidFill>
                  <a:srgbClr val="8C8779"/>
                </a:solidFill>
                <a:latin typeface="Calibri"/>
                <a:cs typeface="Calibri"/>
              </a:rPr>
              <a:t>Complete evaluated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675C"/>
                </a:solidFill>
                <a:latin typeface="Calibri"/>
                <a:cs typeface="Calibri"/>
              </a:rPr>
              <a:t>Review 3  |  Methodology Development  |  Research Knowledge Repository with Semantic Search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64240" cy="37033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1270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1064240" cy="45720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2140085"/>
            <a:ext cx="9784080" cy="24406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1" dirty="0">
                <a:solidFill>
                  <a:srgbClr val="F2E7C9"/>
                </a:solidFill>
                <a:latin typeface="Calibri"/>
                <a:cs typeface="Calibri"/>
              </a:rPr>
              <a:t>“The project has progressed from the planning and literature-review stage to a working prototype. The core modules including authentication, PDF processing, text extraction, embedding generation, PostgreSQL/</a:t>
            </a:r>
            <a:r>
              <a:rPr sz="2000" b="0" i="1" dirty="0" err="1">
                <a:solidFill>
                  <a:srgbClr val="F2E7C9"/>
                </a:solidFill>
                <a:latin typeface="Calibri"/>
                <a:cs typeface="Calibri"/>
              </a:rPr>
              <a:t>pgvector</a:t>
            </a:r>
            <a:r>
              <a:rPr sz="2000" b="0" i="1" dirty="0">
                <a:solidFill>
                  <a:srgbClr val="F2E7C9"/>
                </a:solidFill>
                <a:latin typeface="Calibri"/>
                <a:cs typeface="Calibri"/>
              </a:rPr>
              <a:t> storage, semantic search, relevance ranking and repository management have been implemented and tested. The next phase will focus on systematic evaluation, larger-scale testing, research-gap analysis and further system enhancement.”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00584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DF4D4"/>
                </a:solidFill>
                <a:latin typeface="Palatino Linotype"/>
                <a:cs typeface="Palatino Linotype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914400"/>
            <a:ext cx="1051560" cy="41148"/>
          </a:xfrm>
          <a:prstGeom prst="rect">
            <a:avLst/>
          </a:prstGeom>
          <a:solidFill>
            <a:srgbClr val="9E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8686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C8779"/>
                </a:solidFill>
                <a:latin typeface="Calibri"/>
                <a:cs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457200" cy="8961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2B25"/>
                </a:solidFill>
                <a:latin typeface="Palatino Linotype"/>
                <a:cs typeface="Palatino Linotype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68250"/>
            <a:ext cx="10058400" cy="3222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Devlin, J. et al. – BERT: Pre-training of Deep Bidirectional Transformers for Language Understanding</a:t>
            </a:r>
            <a:r>
              <a:rPr sz="1150" b="0" i="0" dirty="0">
                <a:solidFill>
                  <a:srgbClr val="C9C2B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42032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457200" cy="8961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2B25"/>
                </a:solidFill>
                <a:latin typeface="Palatino Linotype"/>
                <a:cs typeface="Palatino Linotype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4451" y="2811059"/>
            <a:ext cx="10058400" cy="3222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Reimers, N. &amp; </a:t>
            </a:r>
            <a:r>
              <a:rPr b="0" i="0" dirty="0" err="1">
                <a:solidFill>
                  <a:srgbClr val="C9C2B0"/>
                </a:solidFill>
                <a:latin typeface="Calibri"/>
                <a:cs typeface="Calibri"/>
              </a:rPr>
              <a:t>Gurevych</a:t>
            </a: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, I. – Sentence-BERT: Sentence Embeddings using Siamese BERT-Networks.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02736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602736"/>
            <a:ext cx="457200" cy="8961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2B25"/>
                </a:solidFill>
                <a:latin typeface="Palatino Linotype"/>
                <a:cs typeface="Palatino Linotype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9658"/>
            <a:ext cx="10058400" cy="3222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Lewis, P. et al. – Retrieval-Augmented Generation for Knowledge-Intensive NLP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0160">
            <a:solidFill>
              <a:srgbClr val="3E3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457200" cy="8961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2B25"/>
                </a:solidFill>
                <a:latin typeface="Palatino Linotype"/>
                <a:cs typeface="Palatino Linotype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50362"/>
            <a:ext cx="10058400" cy="3222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b="0" i="0" dirty="0">
                <a:solidFill>
                  <a:srgbClr val="C9C2B0"/>
                </a:solidFill>
                <a:latin typeface="Calibri"/>
                <a:cs typeface="Calibri"/>
              </a:rPr>
              <a:t>Vaswani, A. et al. – Attention Is All You Need</a:t>
            </a:r>
            <a:r>
              <a:rPr sz="1150" b="0" i="0" dirty="0">
                <a:solidFill>
                  <a:srgbClr val="C9C2B0"/>
                </a:solidFill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1609</Words>
  <Application>Microsoft Office PowerPoint</Application>
  <PresentationFormat>Widescreen</PresentationFormat>
  <Paragraphs>385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Consolas</vt:lpstr>
      <vt:lpstr>Monotype Corsiva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Knowledge Repository with Semantic Search</dc:title>
  <dc:subject>Review 3 - Methodology Development</dc:subject>
  <dc:creator>Group 4 - KLH University</dc:creator>
  <cp:keywords/>
  <dc:description>generated using python-pptx</dc:description>
  <cp:lastModifiedBy>Harshini Reddykonda</cp:lastModifiedBy>
  <cp:revision>3</cp:revision>
  <dcterms:created xsi:type="dcterms:W3CDTF">2013-01-27T09:14:16Z</dcterms:created>
  <dcterms:modified xsi:type="dcterms:W3CDTF">2026-10-06T03:46:54Z</dcterms:modified>
  <cp:category/>
</cp:coreProperties>
</file>